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 id="259" r:id="rId5"/>
    <p:sldId id="260" r:id="rId6"/>
  </p:sldIdLst>
  <p:sldSz cx="12192000" cy="6858000"/>
  <p:notesSz cx="6858000" cy="9144000"/>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ar-S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ar-SA"/>
          </a:p>
        </p:txBody>
      </p:sp>
      <p:sp>
        <p:nvSpPr>
          <p:cNvPr id="4" name="Date Placeholder 3"/>
          <p:cNvSpPr>
            <a:spLocks noGrp="1"/>
          </p:cNvSpPr>
          <p:nvPr>
            <p:ph type="dt" sz="half" idx="10"/>
          </p:nvPr>
        </p:nvSpPr>
        <p:spPr/>
        <p:txBody>
          <a:bodyPr/>
          <a:lstStyle/>
          <a:p>
            <a:fld id="{311B16AF-C692-473A-B978-0C8A5794D769}" type="datetimeFigureOut">
              <a:rPr lang="ar-SA" smtClean="0"/>
              <a:t>07/07/47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2038669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10"/>
          </p:nvPr>
        </p:nvSpPr>
        <p:spPr/>
        <p:txBody>
          <a:bodyPr/>
          <a:lstStyle/>
          <a:p>
            <a:fld id="{311B16AF-C692-473A-B978-0C8A5794D769}" type="datetimeFigureOut">
              <a:rPr lang="ar-SA" smtClean="0"/>
              <a:t>07/07/47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1368614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ar-S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1B16AF-C692-473A-B978-0C8A5794D769}" type="datetimeFigureOut">
              <a:rPr lang="ar-SA" smtClean="0"/>
              <a:t>07/07/47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180755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5" name="Date Placeholder 4"/>
          <p:cNvSpPr>
            <a:spLocks noGrp="1"/>
          </p:cNvSpPr>
          <p:nvPr>
            <p:ph type="dt" sz="half" idx="10"/>
          </p:nvPr>
        </p:nvSpPr>
        <p:spPr/>
        <p:txBody>
          <a:bodyPr/>
          <a:lstStyle/>
          <a:p>
            <a:fld id="{311B16AF-C692-473A-B978-0C8A5794D769}" type="datetimeFigureOut">
              <a:rPr lang="ar-SA" smtClean="0"/>
              <a:t>07/07/47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1427010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ar-S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7" name="Date Placeholder 6"/>
          <p:cNvSpPr>
            <a:spLocks noGrp="1"/>
          </p:cNvSpPr>
          <p:nvPr>
            <p:ph type="dt" sz="half" idx="10"/>
          </p:nvPr>
        </p:nvSpPr>
        <p:spPr/>
        <p:txBody>
          <a:bodyPr/>
          <a:lstStyle/>
          <a:p>
            <a:fld id="{311B16AF-C692-473A-B978-0C8A5794D769}" type="datetimeFigureOut">
              <a:rPr lang="ar-SA" smtClean="0"/>
              <a:t>07/07/47</a:t>
            </a:fld>
            <a:endParaRPr lang="ar-SA"/>
          </a:p>
        </p:txBody>
      </p:sp>
      <p:sp>
        <p:nvSpPr>
          <p:cNvPr id="8" name="Footer Placeholder 7"/>
          <p:cNvSpPr>
            <a:spLocks noGrp="1"/>
          </p:cNvSpPr>
          <p:nvPr>
            <p:ph type="ftr" sz="quarter" idx="11"/>
          </p:nvPr>
        </p:nvSpPr>
        <p:spPr/>
        <p:txBody>
          <a:bodyPr/>
          <a:lstStyle/>
          <a:p>
            <a:endParaRPr lang="ar-SA"/>
          </a:p>
        </p:txBody>
      </p:sp>
      <p:sp>
        <p:nvSpPr>
          <p:cNvPr id="9" name="Slide Number Placeholder 8"/>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3965558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Date Placeholder 2"/>
          <p:cNvSpPr>
            <a:spLocks noGrp="1"/>
          </p:cNvSpPr>
          <p:nvPr>
            <p:ph type="dt" sz="half" idx="10"/>
          </p:nvPr>
        </p:nvSpPr>
        <p:spPr/>
        <p:txBody>
          <a:bodyPr/>
          <a:lstStyle/>
          <a:p>
            <a:fld id="{311B16AF-C692-473A-B978-0C8A5794D769}" type="datetimeFigureOut">
              <a:rPr lang="ar-SA" smtClean="0"/>
              <a:t>07/07/47</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1423661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1B16AF-C692-473A-B978-0C8A5794D769}" type="datetimeFigureOut">
              <a:rPr lang="ar-SA" smtClean="0"/>
              <a:t>07/07/47</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2406824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ar-S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11B16AF-C692-473A-B978-0C8A5794D769}" type="datetimeFigureOut">
              <a:rPr lang="ar-SA" smtClean="0"/>
              <a:t>07/07/47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2675383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ar-S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11B16AF-C692-473A-B978-0C8A5794D769}" type="datetimeFigureOut">
              <a:rPr lang="ar-SA" smtClean="0"/>
              <a:t>07/07/47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1470470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10"/>
          </p:nvPr>
        </p:nvSpPr>
        <p:spPr/>
        <p:txBody>
          <a:bodyPr/>
          <a:lstStyle/>
          <a:p>
            <a:fld id="{311B16AF-C692-473A-B978-0C8A5794D769}" type="datetimeFigureOut">
              <a:rPr lang="ar-SA" smtClean="0"/>
              <a:t>07/07/47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1347824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ar-S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10"/>
          </p:nvPr>
        </p:nvSpPr>
        <p:spPr/>
        <p:txBody>
          <a:bodyPr/>
          <a:lstStyle/>
          <a:p>
            <a:fld id="{311B16AF-C692-473A-B978-0C8A5794D769}" type="datetimeFigureOut">
              <a:rPr lang="ar-SA" smtClean="0"/>
              <a:t>07/07/47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91BA0B54-DCBD-4C0A-9B66-4AB61F6FDC02}" type="slidenum">
              <a:rPr lang="ar-SA" smtClean="0"/>
              <a:t>‹#›</a:t>
            </a:fld>
            <a:endParaRPr lang="ar-SA"/>
          </a:p>
        </p:txBody>
      </p:sp>
    </p:spTree>
    <p:extLst>
      <p:ext uri="{BB962C8B-B14F-4D97-AF65-F5344CB8AC3E}">
        <p14:creationId xmlns:p14="http://schemas.microsoft.com/office/powerpoint/2010/main" val="143467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ar-S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1B16AF-C692-473A-B978-0C8A5794D769}" type="datetimeFigureOut">
              <a:rPr lang="ar-SA" smtClean="0"/>
              <a:t>07/07/47</a:t>
            </a:fld>
            <a:endParaRPr lang="ar-S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S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BA0B54-DCBD-4C0A-9B66-4AB61F6FDC02}" type="slidenum">
              <a:rPr lang="ar-SA" smtClean="0"/>
              <a:t>‹#›</a:t>
            </a:fld>
            <a:endParaRPr lang="ar-SA"/>
          </a:p>
        </p:txBody>
      </p:sp>
    </p:spTree>
    <p:extLst>
      <p:ext uri="{BB962C8B-B14F-4D97-AF65-F5344CB8AC3E}">
        <p14:creationId xmlns:p14="http://schemas.microsoft.com/office/powerpoint/2010/main" val="2893956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231" y="-138600"/>
            <a:ext cx="10515600" cy="1325563"/>
          </a:xfrm>
        </p:spPr>
        <p:txBody>
          <a:bodyPr/>
          <a:lstStyle/>
          <a:p>
            <a:r>
              <a:rPr lang="en-US" b="1" dirty="0" smtClean="0"/>
              <a:t>ERD:</a:t>
            </a:r>
            <a:endParaRPr lang="ar-SA" b="1"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97527" y="785091"/>
            <a:ext cx="10566400" cy="6072909"/>
          </a:xfrm>
          <a:prstGeom prst="rect">
            <a:avLst/>
          </a:prstGeom>
        </p:spPr>
      </p:pic>
    </p:spTree>
    <p:extLst>
      <p:ext uri="{BB962C8B-B14F-4D97-AF65-F5344CB8AC3E}">
        <p14:creationId xmlns:p14="http://schemas.microsoft.com/office/powerpoint/2010/main" val="3525215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703" y="1"/>
            <a:ext cx="2980593" cy="1257299"/>
          </a:xfrm>
        </p:spPr>
        <p:txBody>
          <a:bodyPr>
            <a:normAutofit/>
          </a:bodyPr>
          <a:lstStyle/>
          <a:p>
            <a:r>
              <a:rPr lang="en-US" sz="4400" dirty="0" smtClean="0">
                <a:latin typeface="Andalus" panose="02020603050405020304" pitchFamily="18" charset="-78"/>
                <a:cs typeface="Andalus" panose="02020603050405020304" pitchFamily="18" charset="-78"/>
              </a:rPr>
              <a:t>Data Base:</a:t>
            </a:r>
            <a:endParaRPr lang="ar-SA" sz="4400" dirty="0">
              <a:latin typeface="Andalus" panose="02020603050405020304" pitchFamily="18" charset="-78"/>
              <a:cs typeface="Andalus" panose="02020603050405020304" pitchFamily="18" charset="-78"/>
            </a:endParaRPr>
          </a:p>
        </p:txBody>
      </p:sp>
      <p:sp>
        <p:nvSpPr>
          <p:cNvPr id="3" name="Subtitle 2"/>
          <p:cNvSpPr>
            <a:spLocks noGrp="1"/>
          </p:cNvSpPr>
          <p:nvPr>
            <p:ph type="subTitle" idx="1"/>
          </p:nvPr>
        </p:nvSpPr>
        <p:spPr>
          <a:xfrm>
            <a:off x="33703" y="1547446"/>
            <a:ext cx="12158297" cy="5310554"/>
          </a:xfrm>
        </p:spPr>
        <p:txBody>
          <a:bodyPr>
            <a:normAutofit/>
          </a:bodyPr>
          <a:lstStyle/>
          <a:p>
            <a:pPr algn="l"/>
            <a:r>
              <a:rPr lang="en-US" dirty="0"/>
              <a:t>Based on the information we collected from the customer service employee in the Nablus branch and in addition to the information collected from the company's website, we can describe the database </a:t>
            </a:r>
            <a:r>
              <a:rPr lang="en-US" dirty="0" smtClean="0"/>
              <a:t>system </a:t>
            </a:r>
            <a:r>
              <a:rPr lang="en-US" b="1" dirty="0" smtClean="0"/>
              <a:t>(Aramex) </a:t>
            </a:r>
            <a:r>
              <a:rPr lang="en-US" dirty="0"/>
              <a:t>as follows</a:t>
            </a:r>
            <a:r>
              <a:rPr lang="en-US" dirty="0" smtClean="0"/>
              <a:t>:</a:t>
            </a:r>
          </a:p>
          <a:p>
            <a:pPr algn="l"/>
            <a:endParaRPr lang="en-US" dirty="0"/>
          </a:p>
          <a:p>
            <a:pPr marL="342900" indent="-342900" algn="l">
              <a:buFont typeface="Wingdings" panose="05000000000000000000" pitchFamily="2" charset="2"/>
              <a:buChar char="q"/>
            </a:pPr>
            <a:r>
              <a:rPr lang="en-US" sz="2800" dirty="0"/>
              <a:t>The company relies mainly on </a:t>
            </a:r>
            <a:r>
              <a:rPr lang="en-US" sz="2800" dirty="0" smtClean="0"/>
              <a:t>international and domestic delivery.</a:t>
            </a:r>
          </a:p>
          <a:p>
            <a:pPr algn="l"/>
            <a:endParaRPr lang="en-US" sz="2800" dirty="0" smtClean="0"/>
          </a:p>
          <a:p>
            <a:pPr marL="342900" indent="-342900" algn="l">
              <a:buFont typeface="Wingdings" panose="05000000000000000000" pitchFamily="2" charset="2"/>
              <a:buChar char="q"/>
            </a:pPr>
            <a:r>
              <a:rPr lang="en-US" sz="2800" dirty="0"/>
              <a:t>The company has a network of branches that extends in Palestine and a number of countries around the world, allowing it to fully meet the needs of its customers, and one branch is characterized </a:t>
            </a:r>
            <a:r>
              <a:rPr lang="en-US" sz="2800" dirty="0" smtClean="0"/>
              <a:t>by</a:t>
            </a:r>
            <a:r>
              <a:rPr lang="en-US" sz="2800" b="1" dirty="0" smtClean="0"/>
              <a:t>(contact number,Blocation)</a:t>
            </a:r>
            <a:r>
              <a:rPr lang="en-US" sz="2800" b="1" dirty="0"/>
              <a:t> </a:t>
            </a:r>
            <a:r>
              <a:rPr lang="en-US" dirty="0"/>
              <a:t>,In </a:t>
            </a:r>
            <a:r>
              <a:rPr lang="en-US" sz="2800" dirty="0"/>
              <a:t>addition, there is no branch without employees and that one branch exports a number of shipments and the same branch produces a number of connections to deliver those shipments</a:t>
            </a:r>
            <a:endParaRPr lang="en-US" sz="2800" dirty="0" smtClean="0"/>
          </a:p>
          <a:p>
            <a:pPr marL="342900" indent="-342900" algn="l">
              <a:buFont typeface="Wingdings" panose="05000000000000000000" pitchFamily="2" charset="2"/>
              <a:buChar char="q"/>
            </a:pPr>
            <a:endParaRPr lang="en-US" sz="2800" dirty="0"/>
          </a:p>
          <a:p>
            <a:pPr marL="342900" indent="-342900" algn="l">
              <a:buFont typeface="Wingdings" panose="05000000000000000000" pitchFamily="2" charset="2"/>
              <a:buChar char="q"/>
            </a:pPr>
            <a:endParaRPr lang="en-US" dirty="0" smtClean="0"/>
          </a:p>
          <a:p>
            <a:pPr algn="l"/>
            <a:endParaRPr lang="ar-SA" dirty="0"/>
          </a:p>
        </p:txBody>
      </p:sp>
    </p:spTree>
    <p:extLst>
      <p:ext uri="{BB962C8B-B14F-4D97-AF65-F5344CB8AC3E}">
        <p14:creationId xmlns:p14="http://schemas.microsoft.com/office/powerpoint/2010/main" val="1501629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95654"/>
            <a:ext cx="12192000" cy="6312878"/>
          </a:xfrm>
        </p:spPr>
        <p:txBody>
          <a:bodyPr>
            <a:normAutofit/>
          </a:bodyPr>
          <a:lstStyle/>
          <a:p>
            <a:pPr>
              <a:buFont typeface="Wingdings" panose="05000000000000000000" pitchFamily="2" charset="2"/>
              <a:buChar char="q"/>
            </a:pPr>
            <a:r>
              <a:rPr lang="en-US" sz="3000" dirty="0"/>
              <a:t>Office clerks and </a:t>
            </a:r>
            <a:r>
              <a:rPr lang="en-US" sz="3000" dirty="0" smtClean="0"/>
              <a:t>Delivery agents share </a:t>
            </a:r>
            <a:r>
              <a:rPr lang="en-US" sz="3000" dirty="0"/>
              <a:t>a number of characteristics </a:t>
            </a:r>
            <a:r>
              <a:rPr lang="en-US" sz="3000" b="1" dirty="0" smtClean="0"/>
              <a:t>(EID,Ename,salary,Etype,phone number)</a:t>
            </a:r>
            <a:r>
              <a:rPr lang="en-US" sz="3000" dirty="0" smtClean="0"/>
              <a:t>and </a:t>
            </a:r>
            <a:r>
              <a:rPr lang="en-US" sz="3000" dirty="0"/>
              <a:t>the </a:t>
            </a:r>
            <a:r>
              <a:rPr lang="en-US" sz="3000" dirty="0" smtClean="0"/>
              <a:t>Delivery agents has </a:t>
            </a:r>
            <a:r>
              <a:rPr lang="en-US" sz="3000" dirty="0"/>
              <a:t>their own information that helps connect deliveries to the </a:t>
            </a:r>
            <a:r>
              <a:rPr lang="en-US" sz="3000" dirty="0" smtClean="0"/>
              <a:t>system</a:t>
            </a:r>
            <a:r>
              <a:rPr lang="en-US" sz="3000" b="1" dirty="0" smtClean="0"/>
              <a:t>(vehicle id,region).</a:t>
            </a:r>
          </a:p>
          <a:p>
            <a:pPr marL="0" indent="0">
              <a:buNone/>
            </a:pPr>
            <a:endParaRPr lang="en-US" sz="3000" b="1" dirty="0" smtClean="0"/>
          </a:p>
          <a:p>
            <a:pPr>
              <a:buFont typeface="Wingdings" panose="05000000000000000000" pitchFamily="2" charset="2"/>
              <a:buChar char="q"/>
            </a:pPr>
            <a:r>
              <a:rPr lang="en-US" sz="3000" dirty="0"/>
              <a:t>The delivery </a:t>
            </a:r>
            <a:r>
              <a:rPr lang="en-US" sz="3000" dirty="0" smtClean="0"/>
              <a:t>agent </a:t>
            </a:r>
            <a:r>
              <a:rPr lang="en-US" sz="3000" dirty="0"/>
              <a:t>is associated with deliveries so that each delivery contains </a:t>
            </a:r>
            <a:r>
              <a:rPr lang="en-US" sz="3000" dirty="0" smtClean="0"/>
              <a:t>(</a:t>
            </a:r>
            <a:r>
              <a:rPr lang="en-US" sz="3000" b="1" dirty="0" smtClean="0"/>
              <a:t>DID,Ddate,DStatus) </a:t>
            </a:r>
            <a:r>
              <a:rPr lang="en-US" sz="3000" dirty="0"/>
              <a:t>and the delivery is linked to several </a:t>
            </a:r>
            <a:r>
              <a:rPr lang="en-US" sz="3000" dirty="0" smtClean="0"/>
              <a:t>shipments.</a:t>
            </a:r>
          </a:p>
          <a:p>
            <a:pPr>
              <a:buFont typeface="Wingdings" panose="05000000000000000000" pitchFamily="2" charset="2"/>
              <a:buChar char="q"/>
            </a:pPr>
            <a:endParaRPr lang="en-US" sz="3000" dirty="0"/>
          </a:p>
          <a:p>
            <a:pPr>
              <a:buFont typeface="Wingdings" panose="05000000000000000000" pitchFamily="2" charset="2"/>
              <a:buChar char="q"/>
            </a:pPr>
            <a:r>
              <a:rPr lang="en-US" sz="3000" dirty="0"/>
              <a:t>The delivery process is carried out by one means of transport and the delivery company is concerned with the type of transport process </a:t>
            </a:r>
            <a:r>
              <a:rPr lang="en-US" sz="3000" dirty="0" smtClean="0"/>
              <a:t>used</a:t>
            </a:r>
            <a:r>
              <a:rPr lang="en-US" sz="3000" b="1" dirty="0" smtClean="0"/>
              <a:t>(</a:t>
            </a:r>
            <a:r>
              <a:rPr lang="en-US" sz="3000" dirty="0" smtClean="0"/>
              <a:t> </a:t>
            </a:r>
            <a:r>
              <a:rPr lang="en-US" sz="3000" b="1" dirty="0" smtClean="0"/>
              <a:t>Ttype ,TID ,capacity).</a:t>
            </a:r>
          </a:p>
          <a:p>
            <a:pPr>
              <a:buFont typeface="Wingdings" panose="05000000000000000000" pitchFamily="2" charset="2"/>
              <a:buChar char="q"/>
            </a:pPr>
            <a:endParaRPr lang="en-US" sz="3000" dirty="0"/>
          </a:p>
          <a:p>
            <a:pPr>
              <a:buFont typeface="Wingdings" panose="05000000000000000000" pitchFamily="2" charset="2"/>
              <a:buChar char="q"/>
            </a:pPr>
            <a:endParaRPr lang="en-US" sz="3000" dirty="0" smtClean="0"/>
          </a:p>
          <a:p>
            <a:pPr>
              <a:buFont typeface="Wingdings" panose="05000000000000000000" pitchFamily="2" charset="2"/>
              <a:buChar char="q"/>
            </a:pPr>
            <a:endParaRPr lang="en-US" sz="3000" b="1" dirty="0"/>
          </a:p>
          <a:p>
            <a:pPr>
              <a:buFont typeface="Wingdings" panose="05000000000000000000" pitchFamily="2" charset="2"/>
              <a:buChar char="q"/>
            </a:pPr>
            <a:endParaRPr lang="en-US" sz="3000" b="1" dirty="0" smtClean="0"/>
          </a:p>
          <a:p>
            <a:pPr>
              <a:buFont typeface="Wingdings" panose="05000000000000000000" pitchFamily="2" charset="2"/>
              <a:buChar char="q"/>
            </a:pPr>
            <a:endParaRPr lang="en-US" sz="3000" b="1" dirty="0" smtClean="0"/>
          </a:p>
          <a:p>
            <a:pPr>
              <a:buFont typeface="Wingdings" panose="05000000000000000000" pitchFamily="2" charset="2"/>
              <a:buChar char="q"/>
            </a:pPr>
            <a:endParaRPr lang="ar-SA" dirty="0"/>
          </a:p>
        </p:txBody>
      </p:sp>
    </p:spTree>
    <p:extLst>
      <p:ext uri="{BB962C8B-B14F-4D97-AF65-F5344CB8AC3E}">
        <p14:creationId xmlns:p14="http://schemas.microsoft.com/office/powerpoint/2010/main" val="2364400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130"/>
            <a:ext cx="12192000" cy="6778869"/>
          </a:xfrm>
        </p:spPr>
        <p:txBody>
          <a:bodyPr>
            <a:normAutofit lnSpcReduction="10000"/>
          </a:bodyPr>
          <a:lstStyle/>
          <a:p>
            <a:pPr>
              <a:buFont typeface="Wingdings" panose="05000000000000000000" pitchFamily="2" charset="2"/>
              <a:buChar char="q"/>
            </a:pPr>
            <a:r>
              <a:rPr lang="en-US" sz="3000" dirty="0"/>
              <a:t>The delivery process varies in information based on the type of operation, whether it is </a:t>
            </a:r>
            <a:r>
              <a:rPr lang="en-US" sz="3200" dirty="0" smtClean="0"/>
              <a:t>domestic</a:t>
            </a:r>
            <a:r>
              <a:rPr lang="en-US" sz="3000" dirty="0" smtClean="0"/>
              <a:t> </a:t>
            </a:r>
            <a:r>
              <a:rPr lang="en-US" sz="3000" dirty="0"/>
              <a:t>or </a:t>
            </a:r>
            <a:r>
              <a:rPr lang="en-US" sz="3000" dirty="0" smtClean="0"/>
              <a:t>international</a:t>
            </a:r>
            <a:r>
              <a:rPr lang="en-US" sz="3000" b="1" dirty="0" smtClean="0"/>
              <a:t>( DTID,max </a:t>
            </a:r>
            <a:r>
              <a:rPr lang="en-US" sz="3000" b="1" dirty="0"/>
              <a:t>w</a:t>
            </a:r>
            <a:r>
              <a:rPr lang="en-US" sz="3000" b="1" dirty="0" smtClean="0"/>
              <a:t>eight, cost per kg, Type name).</a:t>
            </a:r>
          </a:p>
          <a:p>
            <a:pPr marL="0" indent="0">
              <a:buNone/>
            </a:pPr>
            <a:endParaRPr lang="en-US" sz="3000" b="1" dirty="0" smtClean="0"/>
          </a:p>
          <a:p>
            <a:pPr>
              <a:buFont typeface="Wingdings" panose="05000000000000000000" pitchFamily="2" charset="2"/>
              <a:buChar char="q"/>
            </a:pPr>
            <a:r>
              <a:rPr lang="en-US" sz="3000" dirty="0"/>
              <a:t>One shipment contains several parcels and there is no shipment without parcels and all parcels, even if one parcel is taken out by shipment, and certain information about the parcel must be known, such as </a:t>
            </a:r>
            <a:r>
              <a:rPr lang="en-US" sz="3000" b="1" dirty="0" smtClean="0"/>
              <a:t>(pID,pweight,content descrprion,dimention), </a:t>
            </a:r>
            <a:r>
              <a:rPr lang="en-US" sz="3000" dirty="0"/>
              <a:t>as for the shipment, it must contain information such as </a:t>
            </a:r>
            <a:r>
              <a:rPr lang="en-US" sz="3000" b="1" dirty="0" smtClean="0"/>
              <a:t>(SID,Cost) </a:t>
            </a:r>
            <a:r>
              <a:rPr lang="en-US" sz="3000" dirty="0"/>
              <a:t>and also contain the weight of the total shipment, which is the sum of the weights of the </a:t>
            </a:r>
            <a:r>
              <a:rPr lang="en-US" sz="3000" dirty="0" smtClean="0"/>
              <a:t>parcels.</a:t>
            </a:r>
          </a:p>
          <a:p>
            <a:pPr marL="0" indent="0">
              <a:buNone/>
            </a:pPr>
            <a:endParaRPr lang="en-US" sz="3000" dirty="0" smtClean="0"/>
          </a:p>
          <a:p>
            <a:pPr>
              <a:buFont typeface="Wingdings" panose="05000000000000000000" pitchFamily="2" charset="2"/>
              <a:buChar char="q"/>
            </a:pPr>
            <a:r>
              <a:rPr lang="en-US" sz="3000" dirty="0"/>
              <a:t>Each shipment is linked to one customer so that this customer can be either a sender or a receiver, and each sender has a receiver, and the customer's information is stored so that one shipment can be a sender and the other receiver (recersuve</a:t>
            </a:r>
            <a:r>
              <a:rPr lang="en-US" sz="3000" dirty="0" smtClean="0"/>
              <a:t>).</a:t>
            </a:r>
          </a:p>
          <a:p>
            <a:pPr>
              <a:buFont typeface="Wingdings" panose="05000000000000000000" pitchFamily="2" charset="2"/>
              <a:buChar char="q"/>
            </a:pPr>
            <a:endParaRPr lang="en-US" sz="3000" b="1" dirty="0" smtClean="0"/>
          </a:p>
          <a:p>
            <a:pPr>
              <a:buFont typeface="Wingdings" panose="05000000000000000000" pitchFamily="2" charset="2"/>
              <a:buChar char="q"/>
            </a:pPr>
            <a:endParaRPr lang="ar-SA" sz="3000" b="1" dirty="0"/>
          </a:p>
        </p:txBody>
      </p:sp>
    </p:spTree>
    <p:extLst>
      <p:ext uri="{BB962C8B-B14F-4D97-AF65-F5344CB8AC3E}">
        <p14:creationId xmlns:p14="http://schemas.microsoft.com/office/powerpoint/2010/main" val="34791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1546"/>
            <a:ext cx="12192000" cy="6796454"/>
          </a:xfrm>
        </p:spPr>
        <p:txBody>
          <a:bodyPr>
            <a:normAutofit/>
          </a:bodyPr>
          <a:lstStyle/>
          <a:p>
            <a:pPr>
              <a:buFont typeface="Wingdings" panose="05000000000000000000" pitchFamily="2" charset="2"/>
              <a:buChar char="q"/>
            </a:pPr>
            <a:r>
              <a:rPr lang="en-US" sz="3000" dirty="0"/>
              <a:t>Each customer contains information so that it is shared between the sender and the </a:t>
            </a:r>
            <a:r>
              <a:rPr lang="en-US" sz="3000" dirty="0" smtClean="0"/>
              <a:t>receiver</a:t>
            </a:r>
            <a:r>
              <a:rPr lang="en-US" sz="3000" b="1" dirty="0" smtClean="0"/>
              <a:t>(id ,name ,address,phone number,email)</a:t>
            </a:r>
            <a:r>
              <a:rPr lang="en-US" sz="3000" dirty="0" smtClean="0"/>
              <a:t>, </a:t>
            </a:r>
            <a:r>
              <a:rPr lang="en-US" sz="3000" dirty="0"/>
              <a:t>and certainly the sender can have more than one shipment and the receiver can receive more than one shipment from one or more senders</a:t>
            </a:r>
            <a:r>
              <a:rPr lang="en-US" sz="3000" dirty="0" smtClean="0"/>
              <a:t>.</a:t>
            </a:r>
          </a:p>
          <a:p>
            <a:pPr>
              <a:buFont typeface="Wingdings" panose="05000000000000000000" pitchFamily="2" charset="2"/>
              <a:buChar char="q"/>
            </a:pPr>
            <a:r>
              <a:rPr lang="en-US" sz="3000" dirty="0" smtClean="0"/>
              <a:t> </a:t>
            </a:r>
            <a:r>
              <a:rPr lang="en-US" sz="3000" dirty="0"/>
              <a:t>Any customer recorded in the customer register is associated with a particular shipment</a:t>
            </a:r>
            <a:r>
              <a:rPr lang="en-US" sz="3000" dirty="0" smtClean="0"/>
              <a:t>.</a:t>
            </a:r>
          </a:p>
          <a:p>
            <a:pPr marL="0" indent="0">
              <a:buNone/>
            </a:pPr>
            <a:endParaRPr lang="en-US" sz="3000" dirty="0"/>
          </a:p>
          <a:p>
            <a:pPr marL="0" indent="0">
              <a:buNone/>
            </a:pPr>
            <a:r>
              <a:rPr lang="en-US" dirty="0"/>
              <a:t>The database is designed to provide an integrated system that manages all aspects of shipping and delivery operations, from tracking customers and shipments to managing branches and employees. The model ensures flexibility in handling data and accuracy in tracking parcels and deliveries, with the addition of custom details for delivery personnel and means of transportation. The goal is to achieve high efficiency in managing operations and improving the customer experience.</a:t>
            </a:r>
            <a:endParaRPr lang="ar-SA" sz="3000" dirty="0"/>
          </a:p>
        </p:txBody>
      </p:sp>
    </p:spTree>
    <p:extLst>
      <p:ext uri="{BB962C8B-B14F-4D97-AF65-F5344CB8AC3E}">
        <p14:creationId xmlns:p14="http://schemas.microsoft.com/office/powerpoint/2010/main" val="3508940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500</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Andalus</vt:lpstr>
      <vt:lpstr>Arial</vt:lpstr>
      <vt:lpstr>Calibri</vt:lpstr>
      <vt:lpstr>Calibri Light</vt:lpstr>
      <vt:lpstr>Times New Roman</vt:lpstr>
      <vt:lpstr>Wingdings</vt:lpstr>
      <vt:lpstr>Office Theme</vt:lpstr>
      <vt:lpstr>ERD:</vt:lpstr>
      <vt:lpstr>Data Base: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Base:</dc:title>
  <dc:creator>Lenovo</dc:creator>
  <cp:lastModifiedBy>Lenovo</cp:lastModifiedBy>
  <cp:revision>23</cp:revision>
  <dcterms:created xsi:type="dcterms:W3CDTF">2025-01-04T20:06:06Z</dcterms:created>
  <dcterms:modified xsi:type="dcterms:W3CDTF">2025-12-26T21:34:58Z</dcterms:modified>
</cp:coreProperties>
</file>